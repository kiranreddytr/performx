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Site Map: PerformX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SEO, AEO, GEO and brand positioning</a:t>
            </a:r>
            <a:endParaRPr lang="en-US" sz="1400" dirty="0"/>
          </a:p>
        </p:txBody>
      </p:sp>
      <p:sp>
        <p:nvSpPr>
          <p:cNvPr id="4" name="Core message card"/>
          <p:cNvSpPr/>
          <p:nvPr/>
        </p:nvSpPr>
        <p:spPr>
          <a:xfrm>
            <a:off x="457200" y="1234440"/>
            <a:ext cx="6766560" cy="594360"/>
          </a:xfrm>
          <a:prstGeom prst="roundRect">
            <a:avLst>
              <a:gd name="adj" fmla="val 1230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  </a:t>
            </a:r>
            <a:pPr indent="0" marL="0"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don’t run ads. We build profitable customer acquisition systems.”</a:t>
            </a:r>
            <a:endParaRPr lang="en-US" sz="1000" dirty="0"/>
          </a:p>
        </p:txBody>
      </p:sp>
      <p:sp>
        <p:nvSpPr>
          <p:cNvPr id="6" name="Root"/>
          <p:cNvSpPr/>
          <p:nvPr/>
        </p:nvSpPr>
        <p:spPr>
          <a:xfrm>
            <a:off x="7772400" y="118872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PERFORMX WEBSITE</a:t>
            </a:r>
            <a:endParaRPr lang="en-US" sz="1600" dirty="0"/>
          </a:p>
        </p:txBody>
      </p:sp>
      <p:sp>
        <p:nvSpPr>
          <p:cNvPr id="8" name="Sitewide card"/>
          <p:cNvSpPr/>
          <p:nvPr/>
        </p:nvSpPr>
        <p:spPr>
          <a:xfrm>
            <a:off x="11064240" y="1234440"/>
            <a:ext cx="6766560" cy="594360"/>
          </a:xfrm>
          <a:prstGeom prst="roundRect">
            <a:avLst>
              <a:gd name="adj" fmla="val 1230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201400" y="123444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SITEWIDE 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Nav: About, Services, Case Studies, Industries, Resources, plus a Get Free Audit button. Footer links and a sticky WhatsApp button.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0" y="1737360"/>
            <a:ext cx="0" cy="2743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9794" y="2011680"/>
            <a:ext cx="15048411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9794" y="2011680"/>
            <a:ext cx="0" cy="182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3" name="HOME header"/>
          <p:cNvSpPr/>
          <p:nvPr/>
        </p:nvSpPr>
        <p:spPr>
          <a:xfrm>
            <a:off x="457200" y="2194560"/>
            <a:ext cx="2325189" cy="54864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194560"/>
            <a:ext cx="2325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sp>
        <p:nvSpPr>
          <p:cNvPr id="15" name="HOME card"/>
          <p:cNvSpPr/>
          <p:nvPr/>
        </p:nvSpPr>
        <p:spPr>
          <a:xfrm>
            <a:off x="457200" y="2834640"/>
            <a:ext cx="2325189" cy="4297680"/>
          </a:xfrm>
          <a:prstGeom prst="roundRect">
            <a:avLst>
              <a:gd name="adj" fmla="val 3146"/>
            </a:avLst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926080"/>
            <a:ext cx="2050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performance marketing agency India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474720"/>
            <a:ext cx="2050869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Hero: H1 + promise + 2 CTAs (Free Audit, Case Studies)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strip + problem: ads that reset every month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9-step Growth Framework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grid (9 cards, each linked)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featured wins (7.9X ROAS, 7.7X ROAS, CPL cut 90%)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PerformX: 5 pillars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served + client logos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(6 Qs, FAQ schema)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CTA + newsletter</a:t>
            </a:r>
            <a:endParaRPr lang="en-US" sz="1050" dirty="0"/>
          </a:p>
        </p:txBody>
      </p:sp>
      <p:sp>
        <p:nvSpPr>
          <p:cNvPr id="18" name="HOME avoid"/>
          <p:cNvSpPr/>
          <p:nvPr/>
        </p:nvSpPr>
        <p:spPr>
          <a:xfrm>
            <a:off x="548640" y="6355080"/>
            <a:ext cx="214230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6355080"/>
            <a:ext cx="19960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claims (“Millions”, “Thousands”), stock photos, text hidden in sliders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27863" y="2011680"/>
            <a:ext cx="0" cy="182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1" name="ABOUT header"/>
          <p:cNvSpPr/>
          <p:nvPr/>
        </p:nvSpPr>
        <p:spPr>
          <a:xfrm>
            <a:off x="2965269" y="2194560"/>
            <a:ext cx="2325189" cy="54864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65269" y="2194560"/>
            <a:ext cx="2325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400" dirty="0"/>
          </a:p>
        </p:txBody>
      </p:sp>
      <p:sp>
        <p:nvSpPr>
          <p:cNvPr id="23" name="ABOUT card"/>
          <p:cNvSpPr/>
          <p:nvPr/>
        </p:nvSpPr>
        <p:spPr>
          <a:xfrm>
            <a:off x="2965269" y="2834640"/>
            <a:ext cx="2325189" cy="4297680"/>
          </a:xfrm>
          <a:prstGeom prst="roundRect">
            <a:avLst>
              <a:gd name="adj" fmla="val 3146"/>
            </a:avLst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02429" y="2926080"/>
            <a:ext cx="2050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/about/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PerformX performance marketing agency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102429" y="3474720"/>
            <a:ext cx="2050869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Hero: mission statement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story: why PerformX exists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team: name, photo, bio, LinkedIn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vision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Principles: data before opinion, radical transparency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(links to Growth Framework)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platforms mastered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numbers + testimonials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</a:t>
            </a:r>
            <a:endParaRPr lang="en-US" sz="1050" dirty="0"/>
          </a:p>
        </p:txBody>
      </p:sp>
      <p:sp>
        <p:nvSpPr>
          <p:cNvPr id="26" name="ABOUT avoid"/>
          <p:cNvSpPr/>
          <p:nvPr/>
        </p:nvSpPr>
        <p:spPr>
          <a:xfrm>
            <a:off x="3056709" y="6355080"/>
            <a:ext cx="214230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29861" y="6355080"/>
            <a:ext cx="19960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“passionate team” copy, faceless page, partner badges you don’t hold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35931" y="2011680"/>
            <a:ext cx="0" cy="182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9" name="SERVICES header"/>
          <p:cNvSpPr/>
          <p:nvPr/>
        </p:nvSpPr>
        <p:spPr>
          <a:xfrm>
            <a:off x="5473337" y="2194560"/>
            <a:ext cx="2325189" cy="54864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73337" y="2194560"/>
            <a:ext cx="2325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</p:txBody>
      </p:sp>
      <p:sp>
        <p:nvSpPr>
          <p:cNvPr id="31" name="SERVICES card"/>
          <p:cNvSpPr/>
          <p:nvPr/>
        </p:nvSpPr>
        <p:spPr>
          <a:xfrm>
            <a:off x="5473337" y="2834640"/>
            <a:ext cx="2325189" cy="4297680"/>
          </a:xfrm>
          <a:prstGeom prst="roundRect">
            <a:avLst>
              <a:gd name="adj" fmla="val 3146"/>
            </a:avLst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10497" y="2926080"/>
            <a:ext cx="2050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/services/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performance marketing services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10497" y="3474720"/>
            <a:ext cx="2050869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with 9 cards. Each sub-page: problem, process, tools, proof, FAQ, CTA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(Search, Shopping, YouTube)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Strategy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Strategy &amp; UGC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 &amp; CRO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Analytics (GA4, GTM, CAPI)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Automation &amp; Email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WhatsApp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(9-step framework)</a:t>
            </a:r>
            <a:endParaRPr lang="en-US" sz="1050" dirty="0"/>
          </a:p>
        </p:txBody>
      </p:sp>
      <p:sp>
        <p:nvSpPr>
          <p:cNvPr id="34" name="SERVICES avoid"/>
          <p:cNvSpPr/>
          <p:nvPr/>
        </p:nvSpPr>
        <p:spPr>
          <a:xfrm>
            <a:off x="5564777" y="6355080"/>
            <a:ext cx="214230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37929" y="6355080"/>
            <a:ext cx="19960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on one page; thin pages under 600 words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44000" y="2011680"/>
            <a:ext cx="0" cy="182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7" name="CASE STUDIES header"/>
          <p:cNvSpPr/>
          <p:nvPr/>
        </p:nvSpPr>
        <p:spPr>
          <a:xfrm>
            <a:off x="7981406" y="2194560"/>
            <a:ext cx="2325189" cy="54864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981406" y="2194560"/>
            <a:ext cx="2325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400" dirty="0"/>
          </a:p>
        </p:txBody>
      </p:sp>
      <p:sp>
        <p:nvSpPr>
          <p:cNvPr id="39" name="CASE STUDIES card"/>
          <p:cNvSpPr/>
          <p:nvPr/>
        </p:nvSpPr>
        <p:spPr>
          <a:xfrm>
            <a:off x="7981406" y="2834640"/>
            <a:ext cx="2325189" cy="4297680"/>
          </a:xfrm>
          <a:prstGeom prst="roundRect">
            <a:avLst>
              <a:gd name="adj" fmla="val 3146"/>
            </a:avLst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18566" y="2926080"/>
            <a:ext cx="2050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/case-studies/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performance marketing case studies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118566" y="3474720"/>
            <a:ext cx="2050869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Hub: headline numbers and filter by industry or channel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wins: 7.9X ROAS, 7.7X ROAS, CPL cut 90%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individual case pages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Challenge, Strategy, Results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dashboard screenshots, alt text, date range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quote or logo (with permission)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service + “Get similar results” CTA</a:t>
            </a:r>
            <a:endParaRPr lang="en-US" sz="1050" dirty="0"/>
          </a:p>
        </p:txBody>
      </p:sp>
      <p:sp>
        <p:nvSpPr>
          <p:cNvPr id="42" name="CASE STUDIES avoid"/>
          <p:cNvSpPr/>
          <p:nvPr/>
        </p:nvSpPr>
        <p:spPr>
          <a:xfrm>
            <a:off x="8072846" y="6355080"/>
            <a:ext cx="214230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45998" y="6355080"/>
            <a:ext cx="19960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“Sample” dashboards (cases 11 and 12), vague results, numbers only inside images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1652069" y="2011680"/>
            <a:ext cx="0" cy="182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5" name="INDUSTRIES header"/>
          <p:cNvSpPr/>
          <p:nvPr/>
        </p:nvSpPr>
        <p:spPr>
          <a:xfrm>
            <a:off x="10489474" y="2194560"/>
            <a:ext cx="2325189" cy="54864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489474" y="2194560"/>
            <a:ext cx="2325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400" dirty="0"/>
          </a:p>
        </p:txBody>
      </p:sp>
      <p:sp>
        <p:nvSpPr>
          <p:cNvPr id="47" name="INDUSTRIES card"/>
          <p:cNvSpPr/>
          <p:nvPr/>
        </p:nvSpPr>
        <p:spPr>
          <a:xfrm>
            <a:off x="10489474" y="2834640"/>
            <a:ext cx="2325189" cy="4297680"/>
          </a:xfrm>
          <a:prstGeom prst="roundRect">
            <a:avLst>
              <a:gd name="adj" fmla="val 3146"/>
            </a:avLst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626634" y="2926080"/>
            <a:ext cx="2050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/industries/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[industry] performance marketing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0626634" y="3474720"/>
            <a:ext cx="2050869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Hub: all industries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D2C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(K-12)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Wellness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&amp; Dealerships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Travel, Events &amp; Hospitality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Jewellery, Furniture &amp; Retail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page: pain, playbook, benchmarks, case, FAQ</a:t>
            </a:r>
            <a:endParaRPr lang="en-US" sz="1050" dirty="0"/>
          </a:p>
        </p:txBody>
      </p:sp>
      <p:sp>
        <p:nvSpPr>
          <p:cNvPr id="50" name="INDUSTRIES avoid"/>
          <p:cNvSpPr/>
          <p:nvPr/>
        </p:nvSpPr>
        <p:spPr>
          <a:xfrm>
            <a:off x="10580914" y="6355080"/>
            <a:ext cx="214230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654066" y="6355080"/>
            <a:ext cx="19960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copy with one swapped word; pages with no proof behind them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4160137" y="2011680"/>
            <a:ext cx="0" cy="182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3" name="RESOURCES / BLOG header"/>
          <p:cNvSpPr/>
          <p:nvPr/>
        </p:nvSpPr>
        <p:spPr>
          <a:xfrm>
            <a:off x="12997543" y="2194560"/>
            <a:ext cx="2325189" cy="54864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2997543" y="2194560"/>
            <a:ext cx="2325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/ BLOG</a:t>
            </a:r>
            <a:endParaRPr lang="en-US" sz="1400" dirty="0"/>
          </a:p>
        </p:txBody>
      </p:sp>
      <p:sp>
        <p:nvSpPr>
          <p:cNvPr id="55" name="RESOURCES / BLOG card"/>
          <p:cNvSpPr/>
          <p:nvPr/>
        </p:nvSpPr>
        <p:spPr>
          <a:xfrm>
            <a:off x="12997543" y="2834640"/>
            <a:ext cx="2325189" cy="4297680"/>
          </a:xfrm>
          <a:prstGeom prst="roundRect">
            <a:avLst>
              <a:gd name="adj" fmla="val 3146"/>
            </a:avLst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3134703" y="2926080"/>
            <a:ext cx="2050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/resources/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performance marketing guide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13134703" y="3474720"/>
            <a:ext cx="2050869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intro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pillars: Meta, Google, Tracking, CRO, Lead-gen, WhatsApp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guides (2,000+ words) + cluster posts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grid + pagination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Glossary: CAC, ROAS, LTV, CPL, CAPI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tools: ROAS, CAC and break-even calculators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signup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post: author, date, breadcrumbs, FAQ</a:t>
            </a:r>
            <a:endParaRPr lang="en-US" sz="1050" dirty="0"/>
          </a:p>
        </p:txBody>
      </p:sp>
      <p:sp>
        <p:nvSpPr>
          <p:cNvPr id="58" name="RESOURCES / BLOG avoid"/>
          <p:cNvSpPr/>
          <p:nvPr/>
        </p:nvSpPr>
        <p:spPr>
          <a:xfrm>
            <a:off x="13088983" y="6355080"/>
            <a:ext cx="214230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3162135" y="6355080"/>
            <a:ext cx="19960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AI-written posts, no author or updated date, orphan posts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6668206" y="2011680"/>
            <a:ext cx="0" cy="182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1" name="CONTACT header"/>
          <p:cNvSpPr/>
          <p:nvPr/>
        </p:nvSpPr>
        <p:spPr>
          <a:xfrm>
            <a:off x="15505611" y="2194560"/>
            <a:ext cx="2325189" cy="54864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5505611" y="2194560"/>
            <a:ext cx="2325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</p:txBody>
      </p:sp>
      <p:sp>
        <p:nvSpPr>
          <p:cNvPr id="63" name="CONTACT card"/>
          <p:cNvSpPr/>
          <p:nvPr/>
        </p:nvSpPr>
        <p:spPr>
          <a:xfrm>
            <a:off x="15505611" y="2834640"/>
            <a:ext cx="2325189" cy="4297680"/>
          </a:xfrm>
          <a:prstGeom prst="roundRect">
            <a:avLst>
              <a:gd name="adj" fmla="val 3146"/>
            </a:avLst>
          </a:prstGeom>
          <a:solidFill>
            <a:srgbClr val="F3F3F3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5642771" y="2926080"/>
            <a:ext cx="2050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/contact/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free ad account audit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15642771" y="3474720"/>
            <a:ext cx="2050869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Hero: “Get your free growth audit”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form: name, brand, website, ad spend, goal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call + email buttons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 (3 steps)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work with (minimum spend)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 service area + map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testimonials + engagement FAQ</a:t>
            </a:r>
            <a:endParaRPr lang="en-US" sz="1050" dirty="0"/>
          </a:p>
        </p:txBody>
      </p:sp>
      <p:sp>
        <p:nvSpPr>
          <p:cNvPr id="66" name="CONTACT avoid"/>
          <p:cNvSpPr/>
          <p:nvPr/>
        </p:nvSpPr>
        <p:spPr>
          <a:xfrm>
            <a:off x="15597051" y="6355080"/>
            <a:ext cx="214230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5670203" y="6355080"/>
            <a:ext cx="19960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forms; personal Gmail as business contact (use hello@yourdomain)</a:t>
            </a:r>
            <a:endParaRPr lang="en-US" sz="1000" dirty="0"/>
          </a:p>
        </p:txBody>
      </p:sp>
      <p:sp>
        <p:nvSpPr>
          <p:cNvPr id="68" name="SEO: GET FOUND IN GOOGLE"/>
          <p:cNvSpPr/>
          <p:nvPr/>
        </p:nvSpPr>
        <p:spPr>
          <a:xfrm>
            <a:off x="457200" y="7360920"/>
            <a:ext cx="417195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40080" y="7452360"/>
            <a:ext cx="38061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SEO: GET FOUND IN GOOGLE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640080" y="7818120"/>
            <a:ext cx="380619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H1 per page with the primary keyword; title ≤60, meta ≤155 characters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and spoke internal links between Services, Case Studies, Industries and Blog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URLs, breadcrumbs, XML sitemap, canonical tags, HTTPS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Vitals: WebP images, fast on mobile 4G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 on every dashboard screenshot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keywords: Meta ads agency, Google ads agency, real estate lead generation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 with consistent NAP, if you have an office</a:t>
            </a:r>
            <a:endParaRPr lang="en-US" sz="1050" dirty="0"/>
          </a:p>
        </p:txBody>
      </p:sp>
      <p:sp>
        <p:nvSpPr>
          <p:cNvPr id="71" name="AEO: BE THE ANSWER"/>
          <p:cNvSpPr/>
          <p:nvPr/>
        </p:nvSpPr>
        <p:spPr>
          <a:xfrm>
            <a:off x="4857750" y="7360920"/>
            <a:ext cx="417195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040630" y="7452360"/>
            <a:ext cx="38061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AEO: BE THE ANSWER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5040630" y="7818120"/>
            <a:ext cx="380619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headings: “How much does a Meta ads agency cost?”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to 60 word direct answer right under each question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blocks on Home, every Service and Industry page (FAQPage schema)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pages: What is ROAS? CAC? LTV? CPL?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lists and numbered steps (HowTo) for featured snippets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process and pricing-model page to capture “cost” queries</a:t>
            </a:r>
            <a:endParaRPr lang="en-US" sz="1050" dirty="0"/>
          </a:p>
        </p:txBody>
      </p:sp>
      <p:sp>
        <p:nvSpPr>
          <p:cNvPr id="74" name="GEO: GET CITED BY AI"/>
          <p:cNvSpPr/>
          <p:nvPr/>
        </p:nvSpPr>
        <p:spPr>
          <a:xfrm>
            <a:off x="9258300" y="7360920"/>
            <a:ext cx="417195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441180" y="7452360"/>
            <a:ext cx="38061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GEO: GET CITED BY AI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9441180" y="7818120"/>
            <a:ext cx="380619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entity everywhere: same name, tagline, description on LinkedIn, Instagram, Clutch, Google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Organization, Person, Service, Review schema; named authors (E-E-A-T)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original data: benchmarks from 150+ campaigns, dated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Quotable one-line definitions with sourced stats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allows GPTBot, ClaudeBot, PerplexityBot; add llms.txt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mentions: Clutch, LinkedIn, YouTube, Reddit, industry blogs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“last updated” date on key pages</a:t>
            </a:r>
            <a:endParaRPr lang="en-US" sz="1050" dirty="0"/>
          </a:p>
        </p:txBody>
      </p:sp>
      <p:sp>
        <p:nvSpPr>
          <p:cNvPr id="77" name="BRAND POSITIONING ON EVERY PAGE"/>
          <p:cNvSpPr/>
          <p:nvPr/>
        </p:nvSpPr>
        <p:spPr>
          <a:xfrm>
            <a:off x="13658850" y="7360920"/>
            <a:ext cx="417195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3841730" y="7452360"/>
            <a:ext cx="38061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POSITIONING ON EVERY PAGE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13841730" y="7818120"/>
            <a:ext cx="380619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“performance marketing agency”, not “digital marketing agency”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pillars repeated: Systems not campaigns, Data before opinion, Full-funnel ownership, Radical transparency, Creative that converts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beside every claim: number + case study link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CTA per page: Get Free Growth Audit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keep the dark base and use the violet to blue gradient only on the X and CTAs</a:t>
            </a:r>
            <a:endParaRPr lang="en-US" sz="1050" dirty="0"/>
          </a:p>
          <a:p>
            <a:pPr marL="152400" indent="-1524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claim: “8X+ average ROAS” clashes with cases (3X to 7.9X). Use “up to 7.9X”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PerformX Full Site Map</dc:title>
  <dc:subject>PptxGenJS Presentation</dc:subject>
  <dc:creator>PptxGenJS</dc:creator>
  <cp:lastModifiedBy>PptxGenJS</cp:lastModifiedBy>
  <cp:revision>1</cp:revision>
  <dcterms:created xsi:type="dcterms:W3CDTF">2026-10-05T07:15:02Z</dcterms:created>
  <dcterms:modified xsi:type="dcterms:W3CDTF">2026-10-05T07:15:02Z</dcterms:modified>
</cp:coreProperties>
</file>